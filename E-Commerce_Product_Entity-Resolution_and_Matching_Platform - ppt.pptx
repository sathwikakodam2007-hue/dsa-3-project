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rgbClr val="F96167"/>
            </a:solidFill>
            <a:effectLst/>
          </c:spPr>
          <c:dLbls>
            <c:numFmt formatCode="0&quot;%&quot;" sourceLinked="0"/>
            <c:txPr>
              <a:bodyPr/>
              <a:lstStyle/>
              <a:p>
                <a:pPr>
                  <a:defRPr sz="1300" b="0" i="0" u="none" strike="noStrike">
                    <a:solidFill>
                      <a:srgbClr val="1F2333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Matching Speed</c:v>
                </c:pt>
                <c:pt idx="1">
                  <c:v>Duplicate Reduction</c:v>
                </c:pt>
                <c:pt idx="2">
                  <c:v>Catalog Consistency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68</c:v>
                </c:pt>
                <c:pt idx="2">
                  <c:v>94</c:v>
                </c:pt>
              </c:numCache>
            </c:numRef>
          </c:val>
        </c:ser>
        <c:dLbls>
          <c:showVal val="1"/>
        </c:dLbls>
        <c:gapWidth val="40"/>
        <c:axId val="120170752"/>
        <c:axId val="120176640"/>
      </c:barChart>
      <c:catAx>
        <c:axId val="12017075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F2333"/>
                </a:solidFill>
                <a:latin typeface="Arial"/>
              </a:defRPr>
            </a:pPr>
            <a:endParaRPr lang="en-US"/>
          </a:p>
        </c:txPr>
        <c:crossAx val="120176640"/>
        <c:crosses val="autoZero"/>
        <c:auto val="1"/>
        <c:lblAlgn val="ctr"/>
        <c:lblOffset val="100"/>
        <c:noMultiLvlLbl val="1"/>
      </c:catAx>
      <c:valAx>
        <c:axId val="120176640"/>
        <c:scaling>
          <c:orientation val="minMax"/>
        </c:scaling>
        <c:delete val="1"/>
        <c:axPos val="b"/>
        <c:numFmt formatCode="General" sourceLinked="0"/>
        <c:tickLblPos val="none"/>
        <c:crossAx val="120170752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509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Product Entity-Resolution &amp; Matching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- 3 (25CS2103E)  |  A.Y. 2026-2027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0424160" cy="0"/>
          </a:xfrm>
          <a:prstGeom prst="line">
            <a:avLst/>
          </a:prstGeom>
          <a:noFill/>
          <a:ln w="12700">
            <a:solidFill>
              <a:srgbClr val="3E47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5262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6451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49560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K. Chandusha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4526280"/>
            <a:ext cx="5486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
</a:t>
            </a:r>
            <a:r>
              <a:rPr lang="en-US" sz="1300" dirty="0">
                <a:solidFill>
                  <a:srgbClr val="D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Sathwika (2520090210)
A. Sanjana (2520090159)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(Deemed to be University)  |  Section: 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8" y="190423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320040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manual, error-prone task of matching identical products listed under different titles, sellers, and formats.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5087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8288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me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598" y="1904238"/>
            <a:ext cx="534924" cy="5349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709160" y="320040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duplicate and near-duplicate listings by normalizing attributes (brand, size, model) into a unified product taxonomy.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38160" y="15087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5" name="Image 2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638" y="1904238"/>
            <a:ext cx="534924" cy="5349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458200" y="320040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blocking, similarity graphs, and clustering to resolve millions of catalog entries into canonical product records.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E9EAF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delivers a de-duplicated catalog, canonical golden records, and cross-seller price comparison.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 Challenge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physical product is listed thousands of times with inconsistent titles, units, and specs.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77063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de-duplication is slow and does not scale across sellers or marketplaces.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54787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7472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see fragmented reviews, ratings, and pricing spread across duplicate listings.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graph-driven engine that indexes listings, extracts normalized attributes, and mathematically clusters records that refer to the same real-world product.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417320"/>
            <a:ext cx="4800600" cy="4892040"/>
          </a:xfrm>
          <a:prstGeom prst="roundRect">
            <a:avLst>
              <a:gd name="adj" fmla="val 2286"/>
            </a:avLst>
          </a:prstGeom>
          <a:solidFill>
            <a:srgbClr val="1F28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594360"/>
            <a:ext cx="2377440" cy="237744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listings, one product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2286000"/>
            <a:ext cx="4069080" cy="685800"/>
          </a:xfrm>
          <a:prstGeom prst="roundRect">
            <a:avLst>
              <a:gd name="adj" fmla="val 10667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2860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"Sony WH1000XM5 Blk"  —  Seller A  —  $329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3108960"/>
            <a:ext cx="4069080" cy="685800"/>
          </a:xfrm>
          <a:prstGeom prst="roundRect">
            <a:avLst>
              <a:gd name="adj" fmla="val 10667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1089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"Sony WH-1000XM5 Headphones, Black"  —  Seller B  —  $314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21140" y="3794760"/>
            <a:ext cx="0" cy="50292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801100" y="42976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509" y="4368089"/>
            <a:ext cx="499262" cy="49926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086600" y="51206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7306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52120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
</a:t>
            </a:r>
            <a:r>
              <a:rPr lang="en-US" sz="1200" dirty="0">
                <a:solidFill>
                  <a:srgbClr val="D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WH-1000XM5 — 2 sellers, best price $314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Attribute Extraction &amp; Blocking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2" y="2028322"/>
            <a:ext cx="442204" cy="442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Indexing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585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titles and descriptions are tokenized and indexed for rapid candidate retrieval across the full catalog.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1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42" y="3354202"/>
            <a:ext cx="442204" cy="4422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Normalization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5844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model, size, and unit variants ("1TB" vs "1000GB") are mapped to a canonical taxonomy via hash-map lookups.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2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42" y="4680082"/>
            <a:ext cx="442204" cy="4422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Strategy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91032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pairs are pruned using locality-sensitive hashing on key attributes, avoiding an O(n²) full comparison.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37960" y="1737360"/>
            <a:ext cx="49834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85800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Pipeline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995160" y="260604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E9EAF2"/>
          </a:solidFill>
          <a:ln/>
        </p:spPr>
      </p:sp>
      <p:sp>
        <p:nvSpPr>
          <p:cNvPr id="19" name="Text 14"/>
          <p:cNvSpPr/>
          <p:nvPr/>
        </p:nvSpPr>
        <p:spPr>
          <a:xfrm>
            <a:off x="72237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22376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Multi-seller feed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25128" y="3474720"/>
            <a:ext cx="0" cy="32004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995160" y="379476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E9EAF2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&amp; Clean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223760" y="4233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normalization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4663440"/>
            <a:ext cx="0" cy="32004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995160" y="498348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27" name="Text 22"/>
          <p:cNvSpPr/>
          <p:nvPr/>
        </p:nvSpPr>
        <p:spPr>
          <a:xfrm>
            <a:off x="72237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Blocks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223760" y="5422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Similarity Scoring &amp; Cluster Resolution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1945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0" cy="45720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291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68580" cy="45720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3291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3291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1668780" cy="45720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3291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6C7BC9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3291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68780" y="4160520"/>
            <a:ext cx="1531620" cy="50292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980" y="4160520"/>
            <a:ext cx="0" cy="50292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9180" y="4160520"/>
            <a:ext cx="0" cy="502920"/>
          </a:xfrm>
          <a:prstGeom prst="line">
            <a:avLst/>
          </a:prstGeom>
          <a:noFill/>
          <a:ln w="15875">
            <a:solidFill>
              <a:srgbClr val="5B60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47091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F2856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4709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0" y="5394960"/>
            <a:ext cx="0" cy="3200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28800" y="57150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5715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→ Golden Record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2039112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89280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Score
</a:t>
            </a: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attribute overlap, title similarity, and image-embedding distance.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80760" y="3364992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1868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Clustering
</a:t>
            </a: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Disjoint-set data structure merges transitively linked listings into a single product cluster.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080760" y="4690872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54456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
</a:t>
            </a: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decision is explainable, citing the exact attributes and score that triggered it.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74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1: Exact-Match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SKU/UPC matching. Failed the moment a seller mistyped a barcode or omitted it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874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2: Vector Similarity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and cosine similarity over titles caught topical overlap but confused similar-but-distinct variants (colors, sizes).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F2856"/>
          </a:solidFill>
          <a:ln w="19050">
            <a:solidFill>
              <a:srgbClr val="F96167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1874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Current: Graph Clustering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0" y="26060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scoring plus union-find clustering resolves listings into golden records with full explainability.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40080" y="1463040"/>
          <a:ext cx="10881360" cy="3401568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8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Software /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8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(Primary engine logic)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spaCy, RapidFuzz (Tokenization, Fuzzy Matching)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Implementations (Union-Find, Inverted Indexes, LSH)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or MongoDB (Storing resolved product graph)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 / PyCharm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A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17519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417320" y="198424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(Intel i5/i7 or AMD Ryzen 5+) for parallel similarity scoring.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8" name="Image 1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2803550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417320" y="3035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 RAM minimum (32GB recommended) to hold catalog-scale similarity graphs.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2" descr="harddr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385511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417320" y="40873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512GB SSD for fast I/O across inverted-index and cluster-graph lookups.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3" descr="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" y="490667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800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417320" y="51389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Full HD (1920×1080) for dashboard and interface testing.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537960" y="1691640"/>
            <a:ext cx="4983480" cy="3200400"/>
          </a:xfrm>
          <a:prstGeom prst="roundRect">
            <a:avLst>
              <a:gd name="adj" fmla="val 3429"/>
            </a:avLst>
          </a:prstGeom>
          <a:solidFill>
            <a:srgbClr val="1F2856"/>
          </a:solidFill>
          <a:ln/>
        </p:spPr>
      </p:sp>
      <p:sp>
        <p:nvSpPr>
          <p:cNvPr id="20" name="Shape 14"/>
          <p:cNvSpPr/>
          <p:nvPr/>
        </p:nvSpPr>
        <p:spPr>
          <a:xfrm>
            <a:off x="6903720" y="20574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4" descr="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070" y="2117750"/>
            <a:ext cx="427939" cy="4279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35240" y="2103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Note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903720" y="2880360"/>
            <a:ext cx="4251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production-scale deployment, the platform can be hosted on AWS or Azure to elastically scale compute during peak catalog-ingestion and flash-sale periods, when listing volume spikes sharply.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937760" cy="5029200"/>
          </a:xfrm>
          <a:prstGeom prst="roundRect">
            <a:avLst>
              <a:gd name="adj" fmla="val 2222"/>
            </a:avLst>
          </a:prstGeom>
          <a:solidFill>
            <a:srgbClr val="1F2856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4343400"/>
            <a:ext cx="2103120" cy="210312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Cross-Marketplace 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54480" y="2697480"/>
            <a:ext cx="2011680" cy="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2514600"/>
            <a:ext cx="1097280" cy="100584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697480"/>
            <a:ext cx="548640" cy="128016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977640"/>
            <a:ext cx="1188720" cy="73152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514600"/>
            <a:ext cx="0" cy="219456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977640"/>
            <a:ext cx="0" cy="1463040"/>
          </a:xfrm>
          <a:prstGeom prst="line">
            <a:avLst/>
          </a:prstGeom>
          <a:noFill/>
          <a:ln w="19050">
            <a:solidFill>
              <a:srgbClr val="4A5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57860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2395728"/>
            <a:ext cx="237744" cy="237744"/>
          </a:xfrm>
          <a:prstGeom prst="ellipse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3401568"/>
            <a:ext cx="237744" cy="237744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3858768"/>
            <a:ext cx="237744" cy="237744"/>
          </a:xfrm>
          <a:prstGeom prst="ellipse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459028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7048" y="5321808"/>
            <a:ext cx="237744" cy="237744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23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a listing; connected components collapse into one canonical product.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0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Matching at Scale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436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Connected-Component Resolution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0" y="20116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builds a similarity graph across sellers and marketplaces, then extracts connected components so every listing of the same product collapses into one node — preventing duplicate catalog entries.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Record Synthesis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0" y="38404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cluster, the most complete and trusted attribute values are merged into a single golden record, with per-seller price and availability retained underneath.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5074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5074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accurate product record, regardless of how many sellers list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Performance Analysis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73736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−76%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686800" y="2560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time-to-match vs. manual review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03920" y="342900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3566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0" y="4251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golden records after clustering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sharply reduces catalog duplication while improving cross-seller price transparency.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8" y="194995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Intelligence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24612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historical price movement across resolved clusters to flag anomalies and predict fair pricing.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87452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598" y="1949958"/>
            <a:ext cx="534924" cy="5349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Detection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324612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listings that mimic a golden record's attributes without matching trusted seller signals.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7F7FA"/>
          </a:solidFill>
          <a:ln w="12700">
            <a:solidFill>
              <a:srgbClr val="E9EAF2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874520"/>
            <a:ext cx="685800" cy="6858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5" name="Image 2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638" y="1949958"/>
            <a:ext cx="534924" cy="5349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Catalogs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324612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attribute normalization to non-English titles and region-specific product formats.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389120" cy="438912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80560" y="4114800"/>
            <a:ext cx="3200400" cy="0"/>
          </a:xfrm>
          <a:prstGeom prst="line">
            <a:avLst/>
          </a:prstGeom>
          <a:noFill/>
          <a:ln w="12700">
            <a:solidFill>
              <a:srgbClr val="3E47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 |  Team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823</Words>
  <Application>Microsoft Office PowerPoint</Application>
  <PresentationFormat>Custom</PresentationFormat>
  <Paragraphs>143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VIJAY</cp:lastModifiedBy>
  <cp:revision>1</cp:revision>
  <dcterms:created xsi:type="dcterms:W3CDTF">2026-08-18T03:18:24Z</dcterms:created>
  <dcterms:modified xsi:type="dcterms:W3CDTF">2026-08-18T03:28:04Z</dcterms:modified>
</cp:coreProperties>
</file>